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89" r:id="rId3"/>
    <p:sldId id="299" r:id="rId4"/>
    <p:sldId id="300" r:id="rId5"/>
    <p:sldId id="292" r:id="rId6"/>
    <p:sldId id="301" r:id="rId7"/>
    <p:sldId id="302" r:id="rId8"/>
    <p:sldId id="290" r:id="rId9"/>
    <p:sldId id="291" r:id="rId10"/>
    <p:sldId id="303" r:id="rId11"/>
    <p:sldId id="304" r:id="rId12"/>
    <p:sldId id="305" r:id="rId13"/>
    <p:sldId id="293" r:id="rId14"/>
    <p:sldId id="306" r:id="rId15"/>
    <p:sldId id="297" r:id="rId16"/>
    <p:sldId id="298" r:id="rId17"/>
    <p:sldId id="295" r:id="rId18"/>
    <p:sldId id="2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59" autoAdjust="0"/>
  </p:normalViewPr>
  <p:slideViewPr>
    <p:cSldViewPr snapToGrid="0">
      <p:cViewPr varScale="1">
        <p:scale>
          <a:sx n="60" d="100"/>
          <a:sy n="60" d="100"/>
        </p:scale>
        <p:origin x="7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5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2F49-3323-1280-F75C-370DD0AA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FA27D-D5FB-8EB8-FEF3-06502E6BF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DC1B9-DB9D-B910-2195-CB866073C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B6E25-38A1-2710-AEC3-6463016C86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51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69ED7-E616-D510-C414-B26B0F44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63F90-CA1B-F63B-5BD4-95ED9A1EB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00374-8656-ABC4-9E47-F79C60A8A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AEA02-A7EA-C2FA-DCBD-0F104025B2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29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95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78D80-41EB-DF21-DEA2-CCC030C4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BD44C-A6C3-04F7-D6B3-6BA28B59E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A286E-8F4D-3580-CB36-642849284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92045-9D8B-EB2F-F2C2-B2EB3972FB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08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FC7C-7326-7DA8-6549-FD7DF99D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910EE-BEB1-0B59-AF02-29A75722B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9A071-480B-AD82-50BC-1132BBF19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80051-CD70-2008-39CC-E137FCE514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02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9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86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9B45-6225-BDC5-DDB9-858D0F50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2D4A4-2F2A-8545-B151-94545B801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DA9F6-541E-B413-6B21-C605BC1D2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9CE73-9CBE-4E9C-5C51-685CB49FC0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30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DECC5-887F-8986-48B6-697F8F52E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F832C-73AB-4738-383B-E140C4DBE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39A1D-841E-1AA6-1BB0-26AD71D5A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FD5D4-2ED6-DDBA-4CF7-1EE0E0608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96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FF12C-36C4-AE12-CC7E-93B49CFA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82DA0-2030-A6C4-1885-BA0F8709C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7B678-3051-DD1F-82B0-7A71F1BBB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6BD40-CF2E-FDA7-CC7B-5215377D9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43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01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8AC25-BB56-6698-B8D2-DBCE30018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BCE65-8CA5-4465-377E-D0E3DB585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3E0A1-183E-7F00-42FE-F08FC8738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0E170-530A-1188-9CAB-62DEC4AA0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763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260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Passport-Visa System Using Blockchain (</a:t>
            </a:r>
            <a:r>
              <a:rPr lang="en-IN" dirty="0" err="1"/>
              <a:t>Sepolia</a:t>
            </a:r>
            <a:r>
              <a:rPr lang="en-IN" dirty="0"/>
              <a:t> </a:t>
            </a:r>
            <a:r>
              <a:rPr lang="en-IN" dirty="0" err="1"/>
              <a:t>Testnet</a:t>
            </a:r>
            <a:r>
              <a:rPr lang="en-IN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800" dirty="0"/>
              <a:t>BY</a:t>
            </a:r>
          </a:p>
          <a:p>
            <a:r>
              <a:rPr lang="en-IN" dirty="0"/>
              <a:t>D </a:t>
            </a:r>
            <a:r>
              <a:rPr lang="en-IN" dirty="0" err="1"/>
              <a:t>premsai</a:t>
            </a:r>
            <a:r>
              <a:rPr lang="en-IN" dirty="0"/>
              <a:t> 2022bcy0059</a:t>
            </a:r>
          </a:p>
          <a:p>
            <a:r>
              <a:rPr lang="en-IN" dirty="0"/>
              <a:t>Deepankar Mishra 2022bcy0033</a:t>
            </a:r>
          </a:p>
          <a:p>
            <a:r>
              <a:rPr lang="en-IN" dirty="0"/>
              <a:t>Rohit </a:t>
            </a:r>
            <a:r>
              <a:rPr lang="en-IN" dirty="0" err="1"/>
              <a:t>paul</a:t>
            </a:r>
            <a:r>
              <a:rPr lang="en-IN" dirty="0"/>
              <a:t> </a:t>
            </a:r>
            <a:r>
              <a:rPr lang="en-IN" dirty="0" err="1"/>
              <a:t>reddy</a:t>
            </a:r>
            <a:r>
              <a:rPr lang="en-IN" dirty="0"/>
              <a:t> 2022bcy0043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23813"/>
            <a:ext cx="1751379" cy="815788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Overview</a:t>
            </a:r>
          </a:p>
          <a:p>
            <a:r>
              <a:rPr lang="en-US" dirty="0"/>
              <a:t>The Passport-Visa System using Blockchain is a decentralized application (</a:t>
            </a:r>
            <a:r>
              <a:rPr lang="en-US" dirty="0" err="1"/>
              <a:t>DApp</a:t>
            </a:r>
            <a:r>
              <a:rPr lang="en-US" dirty="0"/>
              <a:t>) that leverages blockchain technology to modernize and secure the traditional passport and visa issuance process. Built on the Ethereum blockchain using the </a:t>
            </a:r>
            <a:r>
              <a:rPr lang="en-US" dirty="0" err="1"/>
              <a:t>Sepolia</a:t>
            </a:r>
            <a:r>
              <a:rPr lang="en-US" dirty="0"/>
              <a:t> test network, this system ensures transparency, immutability, and eliminates intermediaries in travel document management.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3066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A3A71-05C6-8C73-4813-E773B804F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5BF7A-0649-42D2-5E5F-7180F1A23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8714"/>
            <a:ext cx="10515600" cy="411553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Key Features</a:t>
            </a:r>
          </a:p>
          <a:p>
            <a:r>
              <a:rPr lang="en-IN" b="1" dirty="0"/>
              <a:t>Decentralized Identity Management</a:t>
            </a:r>
            <a:r>
              <a:rPr lang="en-IN" dirty="0"/>
              <a:t>: Passport information stored on blockchain</a:t>
            </a:r>
          </a:p>
          <a:p>
            <a:r>
              <a:rPr lang="en-IN" b="1" dirty="0"/>
              <a:t>Smart Contract-Based Visa Processing</a:t>
            </a:r>
            <a:r>
              <a:rPr lang="en-IN" dirty="0"/>
              <a:t>: Automated visa approval workflows</a:t>
            </a:r>
          </a:p>
          <a:p>
            <a:r>
              <a:rPr lang="en-IN" b="1" dirty="0"/>
              <a:t>Tamper-Proof Records</a:t>
            </a:r>
            <a:r>
              <a:rPr lang="en-IN" dirty="0"/>
              <a:t>: Immutable blockchain storage</a:t>
            </a:r>
          </a:p>
          <a:p>
            <a:r>
              <a:rPr lang="en-IN" b="1" dirty="0"/>
              <a:t>Real-Time Verification</a:t>
            </a:r>
            <a:r>
              <a:rPr lang="en-IN" dirty="0"/>
              <a:t>: Instant verification of travel documents</a:t>
            </a:r>
          </a:p>
          <a:p>
            <a:r>
              <a:rPr lang="en-IN" b="1" dirty="0"/>
              <a:t>Enhanced Security</a:t>
            </a:r>
            <a:r>
              <a:rPr lang="en-IN" dirty="0"/>
              <a:t>: Cryptographic security measures</a:t>
            </a:r>
          </a:p>
          <a:p>
            <a:r>
              <a:rPr lang="en-IN" b="1" dirty="0"/>
              <a:t>Cross-Border Compatibility</a:t>
            </a:r>
            <a:r>
              <a:rPr lang="en-IN" dirty="0"/>
              <a:t>: Universal accessibility across nations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12B58-10D4-303F-FA6A-23D5A238E6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CF7710C-E9C1-9D98-CC98-1BBE2632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D83774-93DD-73A7-8B6D-B75B943F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3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5163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B72CD-9422-A574-D96A-6F158F646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0B26D-E4E6-CA86-AF8D-C456632B0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5" y="1173904"/>
            <a:ext cx="10968789" cy="4510191"/>
          </a:xfrm>
        </p:spPr>
        <p:txBody>
          <a:bodyPr>
            <a:normAutofit/>
          </a:bodyPr>
          <a:lstStyle/>
          <a:p>
            <a:r>
              <a:rPr lang="en-IN" b="1" dirty="0"/>
              <a:t>Technology Stack</a:t>
            </a:r>
          </a:p>
          <a:p>
            <a:r>
              <a:rPr lang="en-IN" b="1" dirty="0"/>
              <a:t>Blockchain</a:t>
            </a:r>
            <a:r>
              <a:rPr lang="en-IN" dirty="0"/>
              <a:t>: Ethereum (</a:t>
            </a:r>
            <a:r>
              <a:rPr lang="en-IN" dirty="0" err="1"/>
              <a:t>Sepolia</a:t>
            </a:r>
            <a:r>
              <a:rPr lang="en-IN" dirty="0"/>
              <a:t> </a:t>
            </a:r>
            <a:r>
              <a:rPr lang="en-IN" dirty="0" err="1"/>
              <a:t>Testnet</a:t>
            </a:r>
            <a:r>
              <a:rPr lang="en-IN" dirty="0"/>
              <a:t>)</a:t>
            </a:r>
          </a:p>
          <a:p>
            <a:r>
              <a:rPr lang="en-IN" b="1" dirty="0"/>
              <a:t>Smart Contracts</a:t>
            </a:r>
            <a:r>
              <a:rPr lang="en-IN" dirty="0"/>
              <a:t>: Solidity</a:t>
            </a:r>
          </a:p>
          <a:p>
            <a:r>
              <a:rPr lang="en-IN" b="1" dirty="0"/>
              <a:t>Development Framework</a:t>
            </a:r>
            <a:r>
              <a:rPr lang="en-IN" dirty="0"/>
              <a:t>: Hardhat/Truffle</a:t>
            </a:r>
          </a:p>
          <a:p>
            <a:r>
              <a:rPr lang="en-IN" b="1" dirty="0"/>
              <a:t>Frontend</a:t>
            </a:r>
            <a:r>
              <a:rPr lang="en-IN" dirty="0"/>
              <a:t>: React.js</a:t>
            </a:r>
          </a:p>
          <a:p>
            <a:r>
              <a:rPr lang="en-IN" b="1" dirty="0"/>
              <a:t>Web3 Integration</a:t>
            </a:r>
            <a:r>
              <a:rPr lang="en-IN" dirty="0"/>
              <a:t>: Ethers.js/Web3.js</a:t>
            </a:r>
          </a:p>
          <a:p>
            <a:r>
              <a:rPr lang="en-IN" b="1" dirty="0"/>
              <a:t>Wallet</a:t>
            </a:r>
            <a:r>
              <a:rPr lang="en-IN" dirty="0"/>
              <a:t>: MetaMask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93253-0F50-AFEE-0C1E-2649A59161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001E380-8D6F-F10F-DBBF-D1960841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CF839AD-41E2-60A1-721A-BFB22B4C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4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5283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 (</a:t>
            </a:r>
            <a:r>
              <a:rPr lang="en-IN" i="1" dirty="0"/>
              <a:t>Optional</a:t>
            </a:r>
            <a:r>
              <a:rPr lang="en-IN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Current Challenges in Traditional Systems</a:t>
            </a:r>
          </a:p>
          <a:p>
            <a:r>
              <a:rPr lang="en-US" b="1" dirty="0"/>
              <a:t>Centralization Issues</a:t>
            </a:r>
            <a:r>
              <a:rPr lang="en-US" dirty="0"/>
              <a:t>: Single points of failure and control</a:t>
            </a:r>
          </a:p>
          <a:p>
            <a:r>
              <a:rPr lang="en-US" b="1" dirty="0"/>
              <a:t>Data Vulnerability</a:t>
            </a:r>
            <a:r>
              <a:rPr lang="en-US" dirty="0"/>
              <a:t>: Susceptible to hacking and unauthorized access</a:t>
            </a:r>
          </a:p>
          <a:p>
            <a:r>
              <a:rPr lang="en-US" b="1" dirty="0"/>
              <a:t>Processing Delays</a:t>
            </a:r>
            <a:r>
              <a:rPr lang="en-US" dirty="0"/>
              <a:t>: Lengthy bureaucratic procedures (weeks to months)</a:t>
            </a:r>
          </a:p>
          <a:p>
            <a:r>
              <a:rPr lang="en-US" b="1" dirty="0"/>
              <a:t>Document Forgery</a:t>
            </a:r>
            <a:r>
              <a:rPr lang="en-US" dirty="0"/>
              <a:t>: Counterfeit passports and visas are prevalent</a:t>
            </a:r>
          </a:p>
          <a:p>
            <a:r>
              <a:rPr lang="en-US" b="1" dirty="0"/>
              <a:t>Lack of Transparency</a:t>
            </a:r>
            <a:r>
              <a:rPr lang="en-US" dirty="0"/>
              <a:t>: Opaque processes with limited tracking</a:t>
            </a:r>
          </a:p>
          <a:p>
            <a:r>
              <a:rPr lang="en-US" b="1" dirty="0"/>
              <a:t>High Costs</a:t>
            </a:r>
            <a:r>
              <a:rPr lang="en-US" dirty="0"/>
              <a:t>: Expensive intermediaries and processing fees</a:t>
            </a:r>
          </a:p>
          <a:p>
            <a:r>
              <a:rPr lang="en-US" b="1" dirty="0"/>
              <a:t>Data Silos</a:t>
            </a:r>
            <a:r>
              <a:rPr lang="en-US" dirty="0"/>
              <a:t>: Incompatible systems across countries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5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35158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5C1EF-9A9D-346A-B6A2-CFD98D97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595F30-B2DB-B52A-E452-8A8B53DD38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4034D5A-3880-1ED3-8B44-681F8F2A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836F9C-2BB3-EC94-DC0F-A7602DD0C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6</a:t>
            </a:fld>
            <a:endParaRPr lang="en-US" sz="1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D1A9C62-1FF6-75EF-1C95-BDF9B1D8D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669"/>
            <a:ext cx="10515600" cy="4114800"/>
          </a:xfrm>
        </p:spPr>
        <p:txBody>
          <a:bodyPr/>
          <a:lstStyle/>
          <a:p>
            <a:r>
              <a:rPr lang="en-US" b="1" dirty="0"/>
              <a:t>Why Blockchain?</a:t>
            </a:r>
          </a:p>
          <a:p>
            <a:r>
              <a:rPr lang="en-US" b="1" dirty="0"/>
              <a:t>Immutability</a:t>
            </a:r>
            <a:r>
              <a:rPr lang="en-US" dirty="0"/>
              <a:t>: Once recorded, data cannot be altered</a:t>
            </a:r>
          </a:p>
          <a:p>
            <a:r>
              <a:rPr lang="en-US" b="1" dirty="0"/>
              <a:t>Transparency</a:t>
            </a:r>
            <a:r>
              <a:rPr lang="en-US" dirty="0"/>
              <a:t>: All transactions are auditable</a:t>
            </a:r>
          </a:p>
          <a:p>
            <a:r>
              <a:rPr lang="en-US" b="1" dirty="0"/>
              <a:t>Security</a:t>
            </a:r>
            <a:r>
              <a:rPr lang="en-US" dirty="0"/>
              <a:t>: Cryptographic algorithms protect data</a:t>
            </a:r>
          </a:p>
          <a:p>
            <a:r>
              <a:rPr lang="en-US" b="1" dirty="0"/>
              <a:t>Decentralization</a:t>
            </a:r>
            <a:r>
              <a:rPr lang="en-US" dirty="0"/>
              <a:t>: No single point of failure</a:t>
            </a:r>
          </a:p>
          <a:p>
            <a:r>
              <a:rPr lang="en-US" b="1" dirty="0"/>
              <a:t>Efficiency</a:t>
            </a:r>
            <a:r>
              <a:rPr lang="en-US" dirty="0"/>
              <a:t>: Smart contracts automate processes</a:t>
            </a:r>
          </a:p>
          <a:p>
            <a:r>
              <a:rPr lang="en-US" b="1" dirty="0"/>
              <a:t>Cost Reduction</a:t>
            </a:r>
            <a:r>
              <a:rPr lang="en-US" dirty="0"/>
              <a:t>: Eliminates intermediaries</a:t>
            </a:r>
          </a:p>
          <a:p>
            <a:r>
              <a:rPr lang="en-US" b="1" dirty="0"/>
              <a:t>Global Accessibility</a:t>
            </a:r>
            <a:r>
              <a:rPr lang="en-US" dirty="0"/>
              <a:t>: Available 24/7 from anywhere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075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8906-DD9B-02F7-4A02-54B352511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A51CC3-7B0E-98B4-76C4-439E90555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C821F0C-CEF3-E9E4-DF6C-8A9286973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6699F6-6A79-7277-5717-7D046814F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7</a:t>
            </a:fld>
            <a:endParaRPr lang="en-US" sz="1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1415B5C-B7BC-6A34-2911-9E9C3D4D0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669"/>
            <a:ext cx="10515600" cy="4114800"/>
          </a:xfrm>
        </p:spPr>
        <p:txBody>
          <a:bodyPr/>
          <a:lstStyle/>
          <a:p>
            <a:r>
              <a:rPr lang="en-US" b="1" dirty="0"/>
              <a:t>Impact Areas</a:t>
            </a:r>
          </a:p>
          <a:p>
            <a:r>
              <a:rPr lang="en-US" dirty="0"/>
              <a:t>Reduced processing time from weeks to hours</a:t>
            </a:r>
          </a:p>
          <a:p>
            <a:r>
              <a:rPr lang="en-US" dirty="0"/>
              <a:t>Enhanced security against identity theft</a:t>
            </a:r>
          </a:p>
          <a:p>
            <a:r>
              <a:rPr lang="en-US" dirty="0"/>
              <a:t>Streamlined international travel</a:t>
            </a:r>
          </a:p>
          <a:p>
            <a:r>
              <a:rPr lang="en-US" dirty="0"/>
              <a:t>Reduced corruption and fraud</a:t>
            </a:r>
          </a:p>
          <a:p>
            <a:r>
              <a:rPr lang="en-US" dirty="0"/>
              <a:t>Better user experience and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0805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Study of the other similar approaches to the problem you are solving.</a:t>
            </a:r>
          </a:p>
          <a:p>
            <a:endParaRPr lang="en-IN" dirty="0"/>
          </a:p>
          <a:p>
            <a:r>
              <a:rPr lang="en-IN" dirty="0"/>
              <a:t>Could be </a:t>
            </a:r>
            <a:r>
              <a:rPr lang="en-IN" b="1" dirty="0"/>
              <a:t>Journal/Conference papers </a:t>
            </a:r>
            <a:r>
              <a:rPr lang="en-IN" dirty="0"/>
              <a:t>OR </a:t>
            </a:r>
            <a:r>
              <a:rPr lang="en-IN" b="1" dirty="0"/>
              <a:t>Patents</a:t>
            </a:r>
            <a:r>
              <a:rPr lang="en-IN" dirty="0"/>
              <a:t> OR </a:t>
            </a:r>
            <a:r>
              <a:rPr lang="en-IN" b="1" dirty="0"/>
              <a:t>any other work </a:t>
            </a:r>
            <a:r>
              <a:rPr lang="en-IN" dirty="0"/>
              <a:t>that fits the criteria.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8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210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Core Problem</a:t>
            </a:r>
          </a:p>
          <a:p>
            <a:r>
              <a:rPr lang="en-US" dirty="0"/>
              <a:t>How can we design and implement a secure, transparent, and efficient passport-visa management system using blockchain technology that addresses the limitations of centralized systems while ensuring data privacy, immutability, and global accessibility?</a:t>
            </a:r>
          </a:p>
          <a:p>
            <a:r>
              <a:rPr lang="en-US" b="1" dirty="0"/>
              <a:t>Specific Problems to Address</a:t>
            </a:r>
          </a:p>
          <a:p>
            <a:r>
              <a:rPr lang="en-US" b="1" dirty="0"/>
              <a:t>1. Security Concerns</a:t>
            </a:r>
            <a:endParaRPr lang="en-US" dirty="0"/>
          </a:p>
          <a:p>
            <a:r>
              <a:rPr lang="en-US" dirty="0"/>
              <a:t>Vulnerability to cyber attacks in centralized databases</a:t>
            </a:r>
          </a:p>
          <a:p>
            <a:r>
              <a:rPr lang="en-US" dirty="0"/>
              <a:t>Identity theft and document forgery</a:t>
            </a:r>
          </a:p>
          <a:p>
            <a:r>
              <a:rPr lang="en-US" dirty="0"/>
              <a:t>Unauthorized data access and tampering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9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15D76-8F32-8AA8-009E-CA93884E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F4255-EB16-775B-1B3D-2C99CD4E9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304"/>
            <a:ext cx="10515600" cy="4115530"/>
          </a:xfrm>
        </p:spPr>
        <p:txBody>
          <a:bodyPr>
            <a:normAutofit/>
          </a:bodyPr>
          <a:lstStyle/>
          <a:p>
            <a:r>
              <a:rPr lang="en-US" b="1" dirty="0"/>
              <a:t>2. Inefficiency</a:t>
            </a:r>
            <a:endParaRPr lang="en-US" dirty="0"/>
          </a:p>
          <a:p>
            <a:r>
              <a:rPr lang="en-US" dirty="0"/>
              <a:t>Lengthy processing times affecting travelers</a:t>
            </a:r>
          </a:p>
          <a:p>
            <a:r>
              <a:rPr lang="en-US" dirty="0"/>
              <a:t>Redundant verification processes</a:t>
            </a:r>
          </a:p>
          <a:p>
            <a:r>
              <a:rPr lang="en-US" dirty="0"/>
              <a:t>Manual intervention causing delays</a:t>
            </a:r>
          </a:p>
          <a:p>
            <a:r>
              <a:rPr lang="en-US" b="1" dirty="0"/>
              <a:t>3. Lack of Transparency</a:t>
            </a:r>
            <a:endParaRPr lang="en-US" dirty="0"/>
          </a:p>
          <a:p>
            <a:r>
              <a:rPr lang="en-US" dirty="0"/>
              <a:t>Opaque application status tracking</a:t>
            </a:r>
          </a:p>
          <a:p>
            <a:r>
              <a:rPr lang="en-US" dirty="0"/>
              <a:t>Unclear rejection reasons</a:t>
            </a:r>
          </a:p>
          <a:p>
            <a:r>
              <a:rPr lang="en-US" dirty="0"/>
              <a:t>No audit trails for accountability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3BD84-C840-F428-7AF7-324A721F6F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3FCDA8-E1B7-FA82-8E53-89B1EA4A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7FC79B-DBB2-3802-BBD5-D795FA69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10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9076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4A845-1FD2-9624-64FF-E16D6525B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3AD9F-38D0-9CD6-1EE3-9310F813D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304"/>
            <a:ext cx="10515600" cy="4115530"/>
          </a:xfrm>
        </p:spPr>
        <p:txBody>
          <a:bodyPr>
            <a:normAutofit/>
          </a:bodyPr>
          <a:lstStyle/>
          <a:p>
            <a:r>
              <a:rPr lang="en-US" b="1" dirty="0"/>
              <a:t>4. Interoperability Issues</a:t>
            </a:r>
            <a:endParaRPr lang="en-US" dirty="0"/>
          </a:p>
          <a:p>
            <a:r>
              <a:rPr lang="en-US" dirty="0"/>
              <a:t>Incompatible systems between countries</a:t>
            </a:r>
          </a:p>
          <a:p>
            <a:r>
              <a:rPr lang="en-US" dirty="0"/>
              <a:t>Difficulty in cross-border verification</a:t>
            </a:r>
          </a:p>
          <a:p>
            <a:r>
              <a:rPr lang="en-US" dirty="0"/>
              <a:t>Data silos preventing information sharing</a:t>
            </a:r>
          </a:p>
          <a:p>
            <a:r>
              <a:rPr lang="en-US" b="1" dirty="0"/>
              <a:t>5. User Control</a:t>
            </a:r>
            <a:endParaRPr lang="en-US" dirty="0"/>
          </a:p>
          <a:p>
            <a:r>
              <a:rPr lang="en-US" dirty="0"/>
              <a:t>Limited control over personal data</a:t>
            </a:r>
          </a:p>
          <a:p>
            <a:r>
              <a:rPr lang="en-US" dirty="0"/>
              <a:t>Inability to revoke or update information easily</a:t>
            </a:r>
          </a:p>
          <a:p>
            <a:r>
              <a:rPr lang="en-US" dirty="0"/>
              <a:t>Dependency on centralized authorities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03A2C-4920-D926-610C-201C7F9828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96251-78C7-AFF8-998F-3BACFE90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43C8A8-5F63-AE52-66BD-6762DB49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11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50755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7CA10-1569-3455-6167-D823FED0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550C5-8E58-0E51-FB52-9CFBC0012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905" y="1371235"/>
            <a:ext cx="10515600" cy="4115530"/>
          </a:xfrm>
        </p:spPr>
        <p:txBody>
          <a:bodyPr>
            <a:normAutofit/>
          </a:bodyPr>
          <a:lstStyle/>
          <a:p>
            <a:r>
              <a:rPr lang="en-US" b="1" dirty="0"/>
              <a:t>Objectives</a:t>
            </a:r>
          </a:p>
          <a:p>
            <a:r>
              <a:rPr lang="en-US" dirty="0"/>
              <a:t>Develop a decentralized passport issuance and storage system</a:t>
            </a:r>
          </a:p>
          <a:p>
            <a:r>
              <a:rPr lang="en-US" dirty="0"/>
              <a:t>Implement smart contract-based automated visa processing</a:t>
            </a:r>
          </a:p>
          <a:p>
            <a:r>
              <a:rPr lang="en-US" dirty="0"/>
              <a:t>Create a transparent and auditable application tracking system</a:t>
            </a:r>
          </a:p>
          <a:p>
            <a:r>
              <a:rPr lang="en-US" dirty="0"/>
              <a:t>Enable real-time verification for border control</a:t>
            </a:r>
          </a:p>
          <a:p>
            <a:r>
              <a:rPr lang="en-US" dirty="0"/>
              <a:t>Ensure data privacy while maintaining transparency</a:t>
            </a:r>
          </a:p>
          <a:p>
            <a:r>
              <a:rPr lang="en-US" dirty="0"/>
              <a:t>Reduce processing time by 80%</a:t>
            </a:r>
          </a:p>
          <a:p>
            <a:r>
              <a:rPr lang="en-US" dirty="0"/>
              <a:t>Minimize costs by eliminating intermediaries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751F6-53B6-F886-8AB7-4EE683DE5C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39A0D19-E991-5D12-C4D2-76B77508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4B984DE-96B9-7392-E2D4-0403D111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12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30546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21456"/>
            <a:ext cx="10515600" cy="1325563"/>
          </a:xfrm>
        </p:spPr>
        <p:txBody>
          <a:bodyPr/>
          <a:lstStyle/>
          <a:p>
            <a:r>
              <a:rPr lang="en-IN" dirty="0"/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204106"/>
            <a:ext cx="11149263" cy="4923977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Three-Layer Architecture</a:t>
            </a:r>
            <a:r>
              <a:rPr lang="en-IN" dirty="0"/>
              <a:t>:</a:t>
            </a:r>
          </a:p>
          <a:p>
            <a:r>
              <a:rPr lang="en-IN" b="1" dirty="0"/>
              <a:t>Layer 1: Blockchain Layer (</a:t>
            </a:r>
            <a:r>
              <a:rPr lang="en-IN" b="1" dirty="0" err="1"/>
              <a:t>Sepolia</a:t>
            </a:r>
            <a:r>
              <a:rPr lang="en-IN" b="1" dirty="0"/>
              <a:t> Network)</a:t>
            </a:r>
            <a:endParaRPr lang="en-IN" dirty="0"/>
          </a:p>
          <a:p>
            <a:r>
              <a:rPr lang="en-IN" dirty="0"/>
              <a:t>Smart contracts for business logic</a:t>
            </a:r>
          </a:p>
          <a:p>
            <a:r>
              <a:rPr lang="en-IN" dirty="0"/>
              <a:t>Distributed ledger for data storage</a:t>
            </a:r>
          </a:p>
          <a:p>
            <a:r>
              <a:rPr lang="en-IN" dirty="0"/>
              <a:t>Consensus mechanism for validation</a:t>
            </a:r>
          </a:p>
          <a:p>
            <a:r>
              <a:rPr lang="en-IN" b="1" dirty="0"/>
              <a:t>Layer 2: Application Layer</a:t>
            </a:r>
            <a:endParaRPr lang="en-IN" dirty="0"/>
          </a:p>
          <a:p>
            <a:r>
              <a:rPr lang="en-IN" dirty="0"/>
              <a:t>Web3 integration</a:t>
            </a:r>
          </a:p>
          <a:p>
            <a:r>
              <a:rPr lang="en-IN" dirty="0"/>
              <a:t>API services</a:t>
            </a:r>
          </a:p>
          <a:p>
            <a:r>
              <a:rPr lang="en-IN" dirty="0"/>
              <a:t>Business logic processing</a:t>
            </a:r>
          </a:p>
          <a:p>
            <a:r>
              <a:rPr lang="en-IN" b="1" dirty="0"/>
              <a:t>Layer 3: Presentation Layer</a:t>
            </a:r>
            <a:endParaRPr lang="en-IN" dirty="0"/>
          </a:p>
          <a:p>
            <a:r>
              <a:rPr lang="en-IN" dirty="0"/>
              <a:t>User interface (React)</a:t>
            </a:r>
          </a:p>
          <a:p>
            <a:r>
              <a:rPr lang="en-IN" dirty="0"/>
              <a:t>Wallet integration (MetaMask)</a:t>
            </a:r>
          </a:p>
          <a:p>
            <a:r>
              <a:rPr lang="en-IN" dirty="0"/>
              <a:t>User authentication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13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8ECD2-7E2B-5B0A-C4E5-2C993EFB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1DB7-3944-AAFE-27F4-AF99E8C9B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1456"/>
            <a:ext cx="10515600" cy="1325563"/>
          </a:xfrm>
        </p:spPr>
        <p:txBody>
          <a:bodyPr/>
          <a:lstStyle/>
          <a:p>
            <a:r>
              <a:rPr lang="en-IN"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4F0D5-CDD1-2FB7-4029-CA0A5BAFC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04106"/>
            <a:ext cx="11149263" cy="4923977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711E2-2833-88C7-F91F-61793C629B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CC1E54C-07F2-19F4-FA48-61A1E3A3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8313F5-39E1-F597-D7CA-5037CB26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14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68980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82DD-1F51-C26D-4A5A-7B3D35658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278DB-A04F-F9EF-508C-E3D7B2386958}"/>
              </a:ext>
            </a:extLst>
          </p:cNvPr>
          <p:cNvSpPr txBox="1"/>
          <p:nvPr/>
        </p:nvSpPr>
        <p:spPr>
          <a:xfrm>
            <a:off x="838200" y="1807535"/>
            <a:ext cx="10644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Implementation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Screenshots of the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79001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714D6-629F-4FD4-EF86-9FCD2041D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947EC6-4D7B-E701-76F2-F6FFD862A025}"/>
              </a:ext>
            </a:extLst>
          </p:cNvPr>
          <p:cNvSpPr txBox="1"/>
          <p:nvPr/>
        </p:nvSpPr>
        <p:spPr>
          <a:xfrm>
            <a:off x="956929" y="1818167"/>
            <a:ext cx="919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Comparison with </a:t>
            </a:r>
            <a:r>
              <a:rPr lang="en-IN"/>
              <a:t>recent literatures.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505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You can conclude by talking about the planned work for the next phase.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17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96980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References in IEEE format.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18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135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2502</TotalTime>
  <Words>736</Words>
  <Application>Microsoft Office PowerPoint</Application>
  <PresentationFormat>Widescreen</PresentationFormat>
  <Paragraphs>156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Tahoma</vt:lpstr>
      <vt:lpstr>Office Theme</vt:lpstr>
      <vt:lpstr>Passport-Visa System Using Blockchain (Sepolia Testnet)</vt:lpstr>
      <vt:lpstr>Introduction</vt:lpstr>
      <vt:lpstr>PowerPoint Presentation</vt:lpstr>
      <vt:lpstr>PowerPoint Presentation</vt:lpstr>
      <vt:lpstr>Motivation (Optional)</vt:lpstr>
      <vt:lpstr>PowerPoint Presentation</vt:lpstr>
      <vt:lpstr>PowerPoint Presentation</vt:lpstr>
      <vt:lpstr>Literature Review</vt:lpstr>
      <vt:lpstr>Problem Statement</vt:lpstr>
      <vt:lpstr>PowerPoint Presentation</vt:lpstr>
      <vt:lpstr>PowerPoint Presentation</vt:lpstr>
      <vt:lpstr>PowerPoint Presentation</vt:lpstr>
      <vt:lpstr>Design</vt:lpstr>
      <vt:lpstr>Design</vt:lpstr>
      <vt:lpstr>Implementation</vt:lpstr>
      <vt:lpstr>Analysis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prem sai</cp:lastModifiedBy>
  <cp:revision>289</cp:revision>
  <dcterms:created xsi:type="dcterms:W3CDTF">2021-08-20T07:15:07Z</dcterms:created>
  <dcterms:modified xsi:type="dcterms:W3CDTF">2025-11-04T11:07:40Z</dcterms:modified>
</cp:coreProperties>
</file>